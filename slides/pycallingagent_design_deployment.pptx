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1874519" cy="310896"/>
          </a:xfrm>
          <a:prstGeom prst="roundRect">
            <a:avLst/>
          </a:prstGeom>
          <a:solidFill>
            <a:srgbClr val="D2A45C"/>
          </a:solidFill>
          <a:ln w="12700">
            <a:solidFill>
              <a:srgbClr val="D2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8745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328"/>
                </a:solidFill>
                <a:latin typeface="Aptos"/>
              </a:rPr>
              <a:t>NUS CS5260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PyCallingAgent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75104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DEEC"/>
                </a:solidFill>
                <a:latin typeface="Aptos"/>
              </a:rPr>
              <a:t>Prompt-first financial research agent with chat, charts, tables, and downloadable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61488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BF8F1"/>
                </a:solidFill>
                <a:latin typeface="Aptos"/>
              </a:rPr>
              <a:t>Goal: make the product feel like a real agent, not a static dashboard. One prompt in, grounded research outputs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08760"/>
            <a:ext cx="1920240" cy="932688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31736" y="161848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D39D"/>
                </a:solidFill>
                <a:latin typeface="Georgia"/>
              </a:rPr>
              <a:t>Prompt-first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1736" y="2039112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4DEEC"/>
                </a:solidFill>
                <a:latin typeface="Aptos"/>
              </a:rPr>
              <a:t>single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08760"/>
            <a:ext cx="1920240" cy="932688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2016" y="161848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D39D"/>
                </a:solidFill>
                <a:latin typeface="Georgia"/>
              </a:rPr>
              <a:t>Chat +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2016" y="2039112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4DEEC"/>
                </a:solidFill>
                <a:latin typeface="Aptos"/>
              </a:rPr>
              <a:t>LLM answer plus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834639"/>
            <a:ext cx="1920240" cy="932688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294436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D39D"/>
                </a:solidFill>
                <a:latin typeface="Georgia"/>
              </a:rPr>
              <a:t>Public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3364991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4DEEC"/>
                </a:solidFill>
                <a:latin typeface="Aptos"/>
              </a:rPr>
              <a:t>Render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834639"/>
            <a:ext cx="1920240" cy="932688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294436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D39D"/>
                </a:solidFill>
                <a:latin typeface="Georgia"/>
              </a:rPr>
              <a:t>Research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3364991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4DEEC"/>
                </a:solidFill>
                <a:latin typeface="Aptos"/>
              </a:rPr>
              <a:t>not investment advice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315968"/>
            <a:ext cx="4526280" cy="1078992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526280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D39D"/>
                </a:solidFill>
                <a:latin typeface="Aptos"/>
              </a:rPr>
              <a:t>Public statement on homepage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828032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This public-facing agent product is entirely derived from work conducted as part of the NUS CS5260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9875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1D39D"/>
                </a:solidFill>
                <a:latin typeface="Aptos"/>
              </a:rPr>
              <a:t>Repository: github.com/vanzll/PyAgent · Public URL: pycallingagent.onrender.com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1D39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5F56"/>
                </a:solidFill>
                <a:latin typeface="Aptos"/>
              </a:rPr>
              <a:t>Why the product is shaped like an agent instead of a financial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2286000" cy="3547872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55648"/>
            <a:ext cx="18745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1. Prompt-first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14015"/>
            <a:ext cx="18745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Aptos"/>
              </a:rPr>
              <a:t>The user starts with one natural-language prompt. The system infers company, ETF, or market proxy instead of forcing structured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1554480"/>
            <a:ext cx="2286000" cy="3547872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3904" y="1755648"/>
            <a:ext cx="18745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2. Artifact-oriented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2414015"/>
            <a:ext cx="18745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Aptos"/>
              </a:rPr>
              <a:t>A useful agent does not stop at text. It should also produce tables, charts, and downloadable outputs in the same 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0256" y="1554480"/>
            <a:ext cx="2286000" cy="3547872"/>
          </a:xfrm>
          <a:prstGeom prst="roundRect">
            <a:avLst/>
          </a:prstGeom>
          <a:solidFill>
            <a:srgbClr val="FBF3E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755648"/>
            <a:ext cx="18745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3. Public-data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414015"/>
            <a:ext cx="18745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Aptos"/>
              </a:rPr>
              <a:t>Outputs are grounded in public market data and SEC filings so the demo looks practical instead of purely generative.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554480"/>
            <a:ext cx="2286000" cy="3547872"/>
          </a:xfrm>
          <a:prstGeom prst="roundRect">
            <a:avLst/>
          </a:prstGeom>
          <a:solidFill>
            <a:srgbClr val="FBECEA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1755648"/>
            <a:ext cx="18745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4. Resilient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5792" y="2414015"/>
            <a:ext cx="18745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Aptos"/>
              </a:rPr>
              <a:t>The classroom demo cannot depend on one fragile API. The system keeps working through public data mode and stable fallbacks.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13248"/>
            <a:ext cx="10972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586984"/>
            <a:ext cx="10424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Result: the UX behaves like a small analyst assistant. The user asks a question, the agent reasons over data, and the UI shows both the answer and the work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75F5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5F56"/>
                </a:solidFill>
                <a:latin typeface="Aptos"/>
              </a:rPr>
              <a:t>A thin web product on top of CaveAgent runtime and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84831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Browser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9572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Prompt input
Assistant answer
Live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08760"/>
            <a:ext cx="2176272" cy="1773936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8105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FastAPI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121408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Sessions
Runs
SSE / polling
Artifact download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243584"/>
            <a:ext cx="2743200" cy="2304288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54480"/>
            <a:ext cx="2057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FinancialResearchRunner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47088"/>
            <a:ext cx="21031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Infer tickers
Fetch public data
Inject runtime variables
Call LLM + skills
Save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508760"/>
            <a:ext cx="2578608" cy="1773936"/>
          </a:xfrm>
          <a:prstGeom prst="roundRect">
            <a:avLst/>
          </a:prstGeom>
          <a:solidFill>
            <a:srgbClr val="FBF3E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1051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21408"/>
            <a:ext cx="2011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SEC EDGAR
Optional Alpha Vantage
Public data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16052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462272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Georgia"/>
              </a:rPr>
              <a:t>Outputs returned to the same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91456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Summary · comparison table · chart image · downloadable 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78608" y="2395728"/>
            <a:ext cx="438912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93792" y="2395728"/>
            <a:ext cx="475488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12480" y="2395728"/>
            <a:ext cx="457200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547872"/>
            <a:ext cx="457200" cy="612648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011680" y="2971800"/>
            <a:ext cx="2880360" cy="118872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355080"/>
            <a:ext cx="9875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75F56"/>
                </a:solidFill>
                <a:latin typeface="Aptos"/>
              </a:rPr>
              <a:t>The product layer stays simple. Most complexity is isolated in the runner and provider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75F5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5F56"/>
                </a:solidFill>
                <a:latin typeface="Aptos"/>
              </a:rPr>
              <a:t>What happens after the user presses Send.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72768"/>
            <a:ext cx="1920240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77393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5C52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23113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Infer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651760"/>
            <a:ext cx="1463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Extract AAPL, NVDA, SPY, or market proxy from the prompt.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3364991"/>
            <a:ext cx="274320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1572768"/>
            <a:ext cx="1920240" cy="3584448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77393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5C5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23113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Load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651760"/>
            <a:ext cx="1463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Pull public market context and SEC facts into a single normalized bundle.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56632" y="3364991"/>
            <a:ext cx="274320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1572768"/>
            <a:ext cx="1920240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177393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5C52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23113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Run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651760"/>
            <a:ext cx="1463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The LLM uses skills over runtime variables instead of hallucinating raw finance facts.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96912" y="3364991"/>
            <a:ext cx="274320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1572768"/>
            <a:ext cx="1920240" cy="3584448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177393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5C52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223113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Materialize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51760"/>
            <a:ext cx="1463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The turn saves charts, tables, markdown summary, and snapshot cards.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37192" y="3364991"/>
            <a:ext cx="274320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75520" y="1572768"/>
            <a:ext cx="1920240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177393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5C52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23113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Stream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2651760"/>
            <a:ext cx="1463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The page shows running status and final artifacts in one session.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40680"/>
            <a:ext cx="10927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5614416"/>
            <a:ext cx="10332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5F56"/>
                </a:solidFill>
                <a:latin typeface="Aptos"/>
              </a:rPr>
              <a:t>This is why the UI feels more agent-like than dashboard-like: each turn produces both language output and visible work products.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75F5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Online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5F56"/>
                </a:solidFill>
                <a:latin typeface="Aptos"/>
              </a:rPr>
              <a:t>The deployment path is intentionally minimal.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6002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184708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2328"/>
                </a:solidFill>
                <a:latin typeface="Georgia"/>
              </a:rPr>
              <a:t>Step 1 ·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249424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Push to `main`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Render watches the repo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New commit triggers redeploy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1600200"/>
            <a:ext cx="3712463" cy="4114800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184708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2328"/>
                </a:solidFill>
                <a:latin typeface="Georgia"/>
              </a:rPr>
              <a:t>Step 2 · Render Web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2249424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Build: `pip install ".[openai,webapp]"`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Start: `python -m uvicorn cave_agent.webapp.app:create_app --factory --host 0.0.0.0 --port $PORT`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Public URL comes from Render, no custom domain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600200"/>
            <a:ext cx="3547872" cy="4114800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3296" y="184708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2328"/>
                </a:solidFill>
                <a:latin typeface="Georgia"/>
              </a:rPr>
              <a:t>Step 3 · Runtime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2249424"/>
            <a:ext cx="2743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`LLM_MODEL_ID`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`LLM_API_KEY`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`LLM_BASE_URL`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`SEC_USER_AGENT`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328"/>
                </a:solidFill>
                <a:latin typeface="Aptos"/>
              </a:rPr>
              <a:t>• Optional `ALPHAVANTAGE_API_KEY`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3611880"/>
            <a:ext cx="256031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52944" y="3611880"/>
            <a:ext cx="256031" cy="0"/>
          </a:xfrm>
          <a:prstGeom prst="line">
            <a:avLst/>
          </a:prstGeom>
          <a:ln w="25400">
            <a:solidFill>
              <a:srgbClr val="0F5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5486400"/>
            <a:ext cx="10287000" cy="530352"/>
          </a:xfrm>
          <a:prstGeom prst="roundRect">
            <a:avLst/>
          </a:prstGeom>
          <a:solidFill>
            <a:srgbClr val="FBF3E4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5650992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Aptos"/>
              </a:rPr>
              <a:t>Key simplification: the product can still run in public-data mode without Alpha Vantage, which reduces the risk of demo failure from free-tier rate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75F5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Why this design works for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1D39D"/>
                </a:solidFill>
                <a:latin typeface="Aptos"/>
              </a:rPr>
              <a:t>A narrow scope, but a complete product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474720" cy="3566160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3852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D39D"/>
                </a:solidFill>
                <a:latin typeface="Georgia"/>
              </a:rPr>
              <a:t>What the project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395728"/>
            <a:ext cx="2788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LLM-based interaction, not static templates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Tool and skill orchestration over public finance data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Visible agent outputs beyond chat text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Public URL that can be tested by the instructor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474720" cy="3566160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93852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D39D"/>
                </a:solidFill>
                <a:latin typeface="Georgia"/>
              </a:rPr>
              <a:t>Operational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395728"/>
            <a:ext cx="2788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Prompt-only UX to feel like an agent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Public-data mode for deployment simplicity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Fallbacks to avoid live demo collapse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Research-only framing for safer positioning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45920"/>
            <a:ext cx="3108960" cy="3566160"/>
          </a:xfrm>
          <a:prstGeom prst="roundRect">
            <a:avLst/>
          </a:prstGeom>
          <a:solidFill>
            <a:srgbClr val="1B263A"/>
          </a:solidFill>
          <a:ln w="12700">
            <a:solidFill>
              <a:srgbClr val="1B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1938528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D39D"/>
                </a:solidFill>
                <a:latin typeface="Georgia"/>
              </a:rPr>
              <a:t>Demo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39572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Summarize Apple and show the recent price trend.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Compare AMD and Nvidia on valuation and performance.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Give me a market snapshot for SPY and highlight the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Public URL: pycallingagent.onrender.com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980176"/>
            <a:ext cx="566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4DEEC"/>
                </a:solidFill>
                <a:latin typeface="Aptos"/>
              </a:rPr>
              <a:t>Repository: github.com/vanzll/PyAgent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9875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1D39D"/>
                </a:solidFill>
                <a:latin typeface="Aptos"/>
              </a:rPr>
              <a:t>For research use only. Not investment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0080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1D39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PyCallingAgent Design and Deployment</dc:title>
  <dc:subject>CS5260 final project presentation</dc:subject>
  <dc:creator>Zhenglin Wan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