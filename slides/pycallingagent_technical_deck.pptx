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8A1F"/>
          </a:solidFill>
          <a:ln w="1270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194560" cy="310896"/>
          </a:xfrm>
          <a:prstGeom prst="roundRect">
            <a:avLst/>
          </a:prstGeom>
          <a:solidFill>
            <a:srgbClr val="E08A1F"/>
          </a:solidFill>
          <a:ln w="1270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TECHNICAL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Georgia"/>
              </a:rPr>
              <a:t>PyCallingAgent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E9ECF3"/>
                </a:solidFill>
                <a:latin typeface="Aptos"/>
              </a:rPr>
              <a:t>A financial research agent built on a stateful Python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5212080" cy="13716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56432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6D9A0"/>
                </a:solidFill>
                <a:latin typeface="Aptos"/>
              </a:rPr>
              <a:t>What this talk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8463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9ECF3"/>
                </a:solidFill>
                <a:latin typeface="Aptos"/>
              </a:rPr>
              <a:t>The runtime, skills, and web-layer adaptation that turn an LLM into an operator of live Python state, grounded on SEC and public market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291840"/>
            <a:ext cx="2423160" cy="6400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19672" y="3429000"/>
            <a:ext cx="27432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19672" y="351129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Prompt-first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69417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6BDCB"/>
                </a:solidFill>
                <a:latin typeface="Aptos"/>
              </a:rPr>
              <a:t>single box of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291840"/>
            <a:ext cx="2423160" cy="6400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079992" y="3429000"/>
            <a:ext cx="27432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79992" y="351129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Object-native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9417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6BDCB"/>
                </a:solidFill>
                <a:latin typeface="Aptos"/>
              </a:rPr>
              <a:t>real DataFrames, not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023360"/>
            <a:ext cx="2423160" cy="6400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19672" y="4160520"/>
            <a:ext cx="27432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19672" y="424281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Artifact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2569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6BDCB"/>
                </a:solidFill>
                <a:latin typeface="Aptos"/>
              </a:rPr>
              <a:t>charts, tables,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4023360"/>
            <a:ext cx="2423160" cy="6400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079992" y="4160520"/>
            <a:ext cx="27432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79992" y="424281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Public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42569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6BDCB"/>
                </a:solidFill>
                <a:latin typeface="Aptos"/>
              </a:rPr>
              <a:t>pycallingagent.onrender.com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212080"/>
            <a:ext cx="10515600" cy="54864"/>
          </a:xfrm>
          <a:prstGeom prst="rect">
            <a:avLst/>
          </a:prstGeom>
          <a:solidFill>
            <a:srgbClr val="E08A1F"/>
          </a:solidFill>
          <a:ln w="1270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9ECF3"/>
                </a:solidFill>
                <a:latin typeface="Aptos"/>
              </a:rPr>
              <a:t>Built on the CaveAgent runtime and skills  ·  adapted into a public FastAPI web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6928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6BDCB"/>
                </a:solidFill>
                <a:latin typeface="Aptos"/>
              </a:rPr>
              <a:t>Zhenglin Wan  ·  NUS  ·  github.com/vanzll/PyAgent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6BDCB"/>
                </a:solidFill>
                <a:latin typeface="Aptos"/>
              </a:rPr>
              <a:t>Research-only demonstration. Not investment advice.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BDC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828"/>
                </a:solidFill>
                <a:latin typeface="Georgia"/>
              </a:rPr>
              <a:t>Classic tool calling hits a text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F6B"/>
                </a:solidFill>
                <a:latin typeface="Aptos"/>
              </a:rPr>
              <a:t>JSON-style tool calls force rich objects through a string channel on every turn.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64240" cy="0"/>
          </a:xfrm>
          <a:prstGeom prst="line">
            <a:avLst/>
          </a:prstGeom>
          <a:ln w="9525">
            <a:solidFill>
              <a:srgbClr val="D7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4F9E"/>
                </a:solidFill>
                <a:latin typeface="Aptos"/>
              </a:rPr>
              <a:t>Conventional JSON function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84831"/>
            <a:ext cx="5120640" cy="2377440"/>
          </a:xfrm>
          <a:prstGeom prst="roundRect">
            <a:avLst/>
          </a:prstGeom>
          <a:solidFill>
            <a:srgbClr val="0B1C32"/>
          </a:solidFill>
          <a:ln w="12700">
            <a:solidFill>
              <a:srgbClr val="0B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47548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// typical tool call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  "name": "get_prices",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  "arguments": { "ticker": "AAPL" 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-&gt; result serialized back as a string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E9ECF3"/>
                </a:solidFill>
                <a:latin typeface="Consolas"/>
              </a:rPr>
              <a:t>-&gt; no object survives across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5669280" cy="859536"/>
          </a:xfrm>
          <a:prstGeom prst="roundRect">
            <a:avLst/>
          </a:prstGeom>
          <a:solidFill>
            <a:srgbClr val="E5ECF7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144768" y="1938528"/>
            <a:ext cx="0" cy="64008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1956816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Georgia"/>
              </a:rPr>
              <a:t>Serialization tax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128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Every DataFrame, chart, or model is flattened into a string before the LLM can touch it again.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79776"/>
            <a:ext cx="5669280" cy="859536"/>
          </a:xfrm>
          <a:prstGeom prst="roundRect">
            <a:avLst/>
          </a:prstGeom>
          <a:solidFill>
            <a:srgbClr val="FBF1DD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144768" y="2889504"/>
            <a:ext cx="0" cy="64008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2907792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Georgia"/>
              </a:rPr>
              <a:t>No persistent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6382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Each call starts fresh. Long-lived objects and open connections cannot carry across 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730752"/>
            <a:ext cx="5669280" cy="859536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144768" y="3840480"/>
            <a:ext cx="0" cy="64008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55080" y="3858768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Georgia"/>
              </a:rPr>
              <a:t>Weak 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14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The model cannot chain in-memory objects with simple code; it re-describes data instead of computing on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155680" cy="1097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77240" y="5285232"/>
            <a:ext cx="41148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39496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6D9A0"/>
                </a:solidFill>
                <a:latin typeface="Aptos"/>
              </a:rP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ECF3"/>
                </a:solidFill>
                <a:latin typeface="Aptos"/>
              </a:rPr>
              <a:t>For real research workloads we want the LLM to drive a live Python process, not to replay text representations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5F6B"/>
                </a:solidFill>
                <a:latin typeface="Aptos"/>
              </a:rPr>
              <a:t>PyCallingAgent  ·  Financial Research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5F6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828"/>
                </a:solidFill>
                <a:latin typeface="Georgia"/>
              </a:rPr>
              <a:t>From text emitter to process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F6B"/>
                </a:solidFill>
                <a:latin typeface="Aptos"/>
              </a:rPr>
              <a:t>We position PyCallingAgent at the next step of the tool-calling timeline.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64240" cy="0"/>
          </a:xfrm>
          <a:prstGeom prst="line">
            <a:avLst/>
          </a:prstGeom>
          <a:ln w="9525">
            <a:solidFill>
              <a:srgbClr val="D7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2798064" cy="1874519"/>
          </a:xfrm>
          <a:prstGeom prst="roundRect">
            <a:avLst/>
          </a:prstGeom>
          <a:solidFill>
            <a:srgbClr val="EEEBE3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76656" y="2057400"/>
            <a:ext cx="0" cy="640080"/>
          </a:xfrm>
          <a:prstGeom prst="line">
            <a:avLst/>
          </a:prstGeom>
          <a:ln w="38100">
            <a:solidFill>
              <a:srgbClr val="5B5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075688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5F6B"/>
                </a:solidFill>
                <a:latin typeface="Aptos"/>
              </a:rPr>
              <a:t>Gen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Georgia"/>
              </a:rPr>
              <a:t>Text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Plain chat. No tools.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51276" y="2811779"/>
            <a:ext cx="100584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6432" y="1874519"/>
            <a:ext cx="2798064" cy="1874519"/>
          </a:xfrm>
          <a:prstGeom prst="roundRect">
            <a:avLst/>
          </a:prstGeom>
          <a:solidFill>
            <a:srgbClr val="E5ECF7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584448" y="2057400"/>
            <a:ext cx="0" cy="64008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22192" y="2075688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B4F9E"/>
                </a:solidFill>
                <a:latin typeface="Aptos"/>
              </a:rPr>
              <a:t>Gen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233172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Georgia"/>
              </a:rPr>
              <a:t>JSON 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2770632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Stateless function calls, string I/O.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59068" y="2811779"/>
            <a:ext cx="100584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64224" y="1874519"/>
            <a:ext cx="2798064" cy="1874519"/>
          </a:xfrm>
          <a:prstGeom prst="roundRect">
            <a:avLst/>
          </a:prstGeom>
          <a:solidFill>
            <a:srgbClr val="FBF1DD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492240" y="2057400"/>
            <a:ext cx="0" cy="64008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29984" y="2075688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Gen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33172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Georgia"/>
              </a:rPr>
              <a:t>Code-as-action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2770632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Scratch interpreter per call, still sandboxed text.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66860" y="2811779"/>
            <a:ext cx="100583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72016" y="1874519"/>
            <a:ext cx="2798064" cy="1874519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400032" y="2057400"/>
            <a:ext cx="0" cy="64008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37776" y="2075688"/>
            <a:ext cx="23408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6B66"/>
                </a:solidFill>
                <a:latin typeface="Aptos"/>
              </a:rPr>
              <a:t>Gen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7776" y="233172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Georgia"/>
              </a:rPr>
              <a:t>Stateful 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770632"/>
            <a:ext cx="23408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Persistent kernel; objects live across turns.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Georgia"/>
              </a:rPr>
              <a:t>Three pillars that make Gen 3 practical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62272"/>
            <a:ext cx="36118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804672" y="4626864"/>
            <a:ext cx="36576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4672" y="47365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Twin-track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10235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A reasoning track (LLM messages) paired with an execution track (persistent Python).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62272"/>
            <a:ext cx="36118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599432" y="4626864"/>
            <a:ext cx="36576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99432" y="47365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Deterministic state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510235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The runtime is inspectable: we can check variables, verify outputs, score episodes.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462272"/>
            <a:ext cx="36118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394192" y="4626864"/>
            <a:ext cx="36576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394192" y="47365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Runtime-aware skills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510235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Skills inject live callables instead of only text instructions.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5F6B"/>
                </a:solidFill>
                <a:latin typeface="Aptos"/>
              </a:rPr>
              <a:t>PyCallingAgent  ·  Financial Research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5F6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828"/>
                </a:solidFill>
                <a:latin typeface="Georgia"/>
              </a:rPr>
              <a:t>Paired semantic and runtime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F6B"/>
                </a:solidFill>
                <a:latin typeface="Aptos"/>
              </a:rPr>
              <a:t>The agent loop binds an LLM message history to a persistent Python environment.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64240" cy="0"/>
          </a:xfrm>
          <a:prstGeom prst="line">
            <a:avLst/>
          </a:prstGeom>
          <a:ln w="9525">
            <a:solidFill>
              <a:srgbClr val="D7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11155680" cy="1417320"/>
          </a:xfrm>
          <a:prstGeom prst="roundRect">
            <a:avLst/>
          </a:prstGeom>
          <a:solidFill>
            <a:srgbClr val="E5ECF7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58368" y="1965960"/>
            <a:ext cx="0" cy="105156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194767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4F9E"/>
                </a:solidFill>
                <a:latin typeface="Aptos"/>
              </a:rPr>
              <a:t>Semantic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03704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Georgia"/>
              </a:rPr>
              <a:t>Reasoning &amp;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3288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Rolling LLM history. Each turn updates h_t = LLM(x_t, h_{t-1}).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167128"/>
            <a:ext cx="11887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24028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4F9E"/>
                </a:solidFill>
                <a:latin typeface="Georgia"/>
              </a:rPr>
              <a:t>h_{t+0}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4597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LLM 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2478024"/>
            <a:ext cx="320040" cy="0"/>
          </a:xfrm>
          <a:prstGeom prst="line">
            <a:avLst/>
          </a:prstGeom>
          <a:ln w="22225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03720" y="2167128"/>
            <a:ext cx="11887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24028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4F9E"/>
                </a:solidFill>
                <a:latin typeface="Georgia"/>
              </a:rPr>
              <a:t>h_{t+1}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4597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LLM step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2440" y="2478024"/>
            <a:ext cx="320040" cy="0"/>
          </a:xfrm>
          <a:prstGeom prst="line">
            <a:avLst/>
          </a:prstGeom>
          <a:ln w="22225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12480" y="2167128"/>
            <a:ext cx="11887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24028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4F9E"/>
                </a:solidFill>
                <a:latin typeface="Georgia"/>
              </a:rPr>
              <a:t>h_{t+2}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597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LLM step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200" y="2478024"/>
            <a:ext cx="320040" cy="0"/>
          </a:xfrm>
          <a:prstGeom prst="line">
            <a:avLst/>
          </a:prstGeom>
          <a:ln w="22225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21240" y="2167128"/>
            <a:ext cx="11887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240280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B4F9E"/>
                </a:solidFill>
                <a:latin typeface="Georgia"/>
              </a:rPr>
              <a:t>h_{t+3}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45973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LLM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834639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5F6B"/>
                </a:solidFill>
                <a:latin typeface="Aptos"/>
              </a:rPr>
              <a:t>text output -&gt; user answer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9320" y="3081528"/>
            <a:ext cx="0" cy="484632"/>
          </a:xfrm>
          <a:prstGeom prst="line">
            <a:avLst/>
          </a:prstGeom>
          <a:ln w="1905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98080" y="3081528"/>
            <a:ext cx="0" cy="484632"/>
          </a:xfrm>
          <a:prstGeom prst="line">
            <a:avLst/>
          </a:prstGeom>
          <a:ln w="1905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06840" y="3081528"/>
            <a:ext cx="0" cy="484632"/>
          </a:xfrm>
          <a:prstGeom prst="line">
            <a:avLst/>
          </a:prstGeom>
          <a:ln w="1905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15600" y="3081528"/>
            <a:ext cx="0" cy="484632"/>
          </a:xfrm>
          <a:prstGeom prst="line">
            <a:avLst/>
          </a:prstGeom>
          <a:ln w="1905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8640" y="3611880"/>
            <a:ext cx="11155680" cy="169164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58368" y="3794760"/>
            <a:ext cx="0" cy="132588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8680" y="377647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6B66"/>
                </a:solidFill>
                <a:latin typeface="Aptos"/>
              </a:rPr>
              <a:t>Runtime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032504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Georgia"/>
              </a:rPr>
              <a:t>Persistent state &amp;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61688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Long-lived IPython kernel. State update rule: s_t = exec(c_t, s_{t-1}).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4032504"/>
            <a:ext cx="1188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4105656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6B66"/>
                </a:solidFill>
                <a:latin typeface="Georgia"/>
              </a:rPr>
              <a:t>s_{t+0}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36168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DataFrames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52628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objects · funcs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0" y="4361688"/>
            <a:ext cx="320040" cy="0"/>
          </a:xfrm>
          <a:prstGeom prst="line">
            <a:avLst/>
          </a:prstGeom>
          <a:ln w="22225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03720" y="4032504"/>
            <a:ext cx="1188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4105656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6B66"/>
                </a:solidFill>
                <a:latin typeface="Georgia"/>
              </a:rPr>
              <a:t>s_{t+1}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36168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DataFrames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52628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objects · funcs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92440" y="4361688"/>
            <a:ext cx="320040" cy="0"/>
          </a:xfrm>
          <a:prstGeom prst="line">
            <a:avLst/>
          </a:prstGeom>
          <a:ln w="22225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412480" y="4032504"/>
            <a:ext cx="1188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4105656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6B66"/>
                </a:solidFill>
                <a:latin typeface="Georgia"/>
              </a:rPr>
              <a:t>s_{t+2}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36168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DataFrames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52628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objects · funcs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01200" y="4361688"/>
            <a:ext cx="320040" cy="0"/>
          </a:xfrm>
          <a:prstGeom prst="line">
            <a:avLst/>
          </a:prstGeom>
          <a:ln w="22225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921240" y="4032504"/>
            <a:ext cx="1188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4105656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6B66"/>
                </a:solidFill>
                <a:latin typeface="Georgia"/>
              </a:rPr>
              <a:t>s_{t+3}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4361688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DataFrames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452628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5F6B"/>
                </a:solidFill>
                <a:latin typeface="Aptos"/>
              </a:rPr>
              <a:t>objects · funcs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9103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B5F6B"/>
                </a:solidFill>
                <a:latin typeface="Aptos"/>
              </a:rPr>
              <a:t>Observation shaping: only compact summaries are folded back into the prompt; full objects stay in the kernel.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532120"/>
            <a:ext cx="11155680" cy="6400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77240" y="5715000"/>
            <a:ext cx="41148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78815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9ECF3"/>
                </a:solidFill>
                <a:latin typeface="Aptos"/>
              </a:rPr>
              <a:t>The LLM context stays lean. The runtime is the real workspace.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5F6B"/>
                </a:solidFill>
                <a:latin typeface="Aptos"/>
              </a:rPr>
              <a:t>PyCallingAgent  ·  Financial Research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5F6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RUNTIME &amp;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828"/>
                </a:solidFill>
                <a:latin typeface="Georgia"/>
              </a:rPr>
              <a:t>Injection API plus lazy skill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F6B"/>
                </a:solidFill>
                <a:latin typeface="Aptos"/>
              </a:rPr>
              <a:t>Objects live in the kernel; the LLM only sees compact descriptors.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64240" cy="0"/>
          </a:xfrm>
          <a:prstGeom prst="line">
            <a:avLst/>
          </a:prstGeom>
          <a:ln w="9525">
            <a:solidFill>
              <a:srgbClr val="D7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6B66"/>
                </a:solidFill>
                <a:latin typeface="Aptos"/>
              </a:rPr>
              <a:t>Runtime injection (Python)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84831"/>
            <a:ext cx="5852160" cy="2926080"/>
          </a:xfrm>
          <a:prstGeom prst="roundRect">
            <a:avLst/>
          </a:prstGeom>
          <a:solidFill>
            <a:srgbClr val="0B1C32"/>
          </a:solidFill>
          <a:ln w="12700">
            <a:solidFill>
              <a:srgbClr val="0B1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from cave_agent import CaveAgent, Variable, Function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from cave_agent.runtime import IPythonRuntime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runtime = IPythonRuntime()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runtime.inject_variable(Variable(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    name='prices',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    value=price_df,       # real pandas DataFrame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    description='daily OHLCV for AAPL',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))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runtime.inject_function(Function(fetch_fundamentals))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agent = CaveAgent(model=model, runtime=runtime)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E9ECF3"/>
                </a:solidFill>
                <a:latin typeface="Consolas"/>
              </a:rPr>
              <a:t>await agent.run('Compare AAPL and NVDA on valuation.')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6B66"/>
                </a:solidFill>
                <a:latin typeface="Aptos"/>
              </a:rPr>
              <a:t>Runtime primitives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084831"/>
            <a:ext cx="5029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194560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Georgia"/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12848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5F6B"/>
                </a:solidFill>
                <a:latin typeface="Aptos"/>
              </a:rPr>
              <a:t>any Python object, retrievable by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779776"/>
            <a:ext cx="5029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889504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Georgia"/>
              </a:rPr>
              <a:t>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907792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5F6B"/>
                </a:solidFill>
                <a:latin typeface="Aptos"/>
              </a:rPr>
              <a:t>a callable surfaced to the LLM with a docstring.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474720"/>
            <a:ext cx="50292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584448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1828"/>
                </a:solidFill>
                <a:latin typeface="Georgia"/>
              </a:rPr>
              <a:t>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602736"/>
            <a:ext cx="3429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5F6B"/>
                </a:solidFill>
                <a:latin typeface="Aptos"/>
              </a:rPr>
              <a:t>schema auto-extracted from Pydantic, dataclass, or Enum.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206240"/>
            <a:ext cx="5029200" cy="173736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839712" y="4370832"/>
            <a:ext cx="411480" cy="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39712" y="4462272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6B66"/>
                </a:solidFill>
                <a:latin typeface="Georgia"/>
              </a:rPr>
              <a:t>Skill 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7548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01828"/>
                </a:solidFill>
                <a:latin typeface="Aptos"/>
              </a:rPr>
              <a:t>•  Lazy loading: only skill metadata (~100 tokens) at startup.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01828"/>
                </a:solidFill>
                <a:latin typeface="Aptos"/>
              </a:rPr>
              <a:t>•  activate_skill(name) injects full instructions and callables on demand.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01828"/>
                </a:solidFill>
                <a:latin typeface="Aptos"/>
              </a:rPr>
              <a:t>•  Each skill can export Function / Variable / Type via injection.py.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12080"/>
            <a:ext cx="585216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77240" y="5376672"/>
            <a:ext cx="36576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468112"/>
            <a:ext cx="5577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6D9A0"/>
                </a:solidFill>
                <a:latin typeface="Aptos"/>
              </a:rPr>
              <a:t>Context budget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05856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9ECF3"/>
                </a:solidFill>
                <a:latin typeface="Aptos"/>
              </a:rPr>
              <a:t>Variables, functions, types, and skills are advertised as short descriptors in the prompt.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5F6B"/>
                </a:solidFill>
                <a:latin typeface="Aptos"/>
              </a:rPr>
              <a:t>PyCallingAgent  ·  Financial Research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5F6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FINANCIAL RESEARCH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828"/>
                </a:solidFill>
                <a:latin typeface="Georgia"/>
              </a:rPr>
              <a:t>What happens when the user presses 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F6B"/>
                </a:solidFill>
                <a:latin typeface="Aptos"/>
              </a:rPr>
              <a:t>One prompt triggers a full research pass with grounded outputs.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64240" cy="0"/>
          </a:xfrm>
          <a:prstGeom prst="line">
            <a:avLst/>
          </a:prstGeom>
          <a:ln w="9525">
            <a:solidFill>
              <a:srgbClr val="D7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74519"/>
            <a:ext cx="2139696" cy="3200400"/>
          </a:xfrm>
          <a:prstGeom prst="roundRect">
            <a:avLst/>
          </a:prstGeom>
          <a:solidFill>
            <a:srgbClr val="E5ECF7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13232" y="2103120"/>
            <a:ext cx="0" cy="68580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21305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4F9E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Parse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0087"/>
            <a:ext cx="15910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Route finance / generic; extract tickers or market proxies.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1874519"/>
            <a:ext cx="2139696" cy="320040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980944" y="2103120"/>
            <a:ext cx="0" cy="68580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27832" y="21305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6B66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5877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Fetch grounded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2990087"/>
            <a:ext cx="15910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SEC EDGAR filings, optional Alpha Vantage, public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874519"/>
            <a:ext cx="2139696" cy="3200400"/>
          </a:xfrm>
          <a:prstGeom prst="roundRect">
            <a:avLst/>
          </a:prstGeom>
          <a:solidFill>
            <a:srgbClr val="FBF1DD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248655" y="2103120"/>
            <a:ext cx="0" cy="68580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95544" y="21305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08A1F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25877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Inject into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2990087"/>
            <a:ext cx="15910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Price frames, fundamentals, and helper functions become live variables.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874519"/>
            <a:ext cx="2139696" cy="3200400"/>
          </a:xfrm>
          <a:prstGeom prst="roundRect">
            <a:avLst/>
          </a:prstGeom>
          <a:solidFill>
            <a:srgbClr val="FBEAE6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16367" y="2103120"/>
            <a:ext cx="0" cy="68580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63255" y="21305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4F9E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5" y="25877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Run agent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5" y="2990087"/>
            <a:ext cx="15910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The LLM calls skills over real objects; no text-only reasoning about the numbers.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9488" y="1874519"/>
            <a:ext cx="2139696" cy="3200400"/>
          </a:xfrm>
          <a:prstGeom prst="roundRect">
            <a:avLst/>
          </a:prstGeom>
          <a:solidFill>
            <a:srgbClr val="EEEBE3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784080" y="2103120"/>
            <a:ext cx="0" cy="68580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030967" y="21305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6B66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2587752"/>
            <a:ext cx="159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Materialize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990087"/>
            <a:ext cx="15910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Save charts, tables, a markdown report, and snapshot cards to the session.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70048" y="3474720"/>
            <a:ext cx="164592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37760" y="3474720"/>
            <a:ext cx="164591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05472" y="3474720"/>
            <a:ext cx="164591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73184" y="3474720"/>
            <a:ext cx="164592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8640" y="5349240"/>
            <a:ext cx="11155680" cy="7772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77240" y="5577840"/>
            <a:ext cx="41148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5650992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9ECF3"/>
                </a:solidFill>
                <a:latin typeface="Aptos"/>
              </a:rPr>
              <a:t>One turn = both language answer and visible work product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88736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6BDCB"/>
                </a:solidFill>
                <a:latin typeface="Aptos"/>
              </a:rPr>
              <a:t>Non-financial prompts fall through to generic LLM QA without touching the finance pipeline.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5F6B"/>
                </a:solidFill>
                <a:latin typeface="Aptos"/>
              </a:rPr>
              <a:t>PyCallingAgent  ·  Financial Research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5F6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APPLICATION-LAYER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828"/>
                </a:solidFill>
                <a:latin typeface="Georgia"/>
              </a:rPr>
              <a:t>Wrapping the agent as a FastAPI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F6B"/>
                </a:solidFill>
                <a:latin typeface="Aptos"/>
              </a:rPr>
              <a:t>The agent core stays the same; the web layer adds session/run orchestration and streaming.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64240" cy="0"/>
          </a:xfrm>
          <a:prstGeom prst="line">
            <a:avLst/>
          </a:prstGeom>
          <a:ln w="9525">
            <a:solidFill>
              <a:srgbClr val="D7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2688336" cy="1627632"/>
          </a:xfrm>
          <a:prstGeom prst="roundRect">
            <a:avLst/>
          </a:prstGeom>
          <a:solidFill>
            <a:srgbClr val="E5ECF7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94944" y="2029968"/>
            <a:ext cx="0" cy="54864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029968"/>
            <a:ext cx="2139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Browser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Jinja2 + vanilla JS
prompt box, chat, artifact panel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18688" y="2642616"/>
            <a:ext cx="155448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55848" y="1828800"/>
            <a:ext cx="2688336" cy="1627632"/>
          </a:xfrm>
          <a:prstGeom prst="roundRect">
            <a:avLst/>
          </a:prstGeom>
          <a:solidFill>
            <a:srgbClr val="FBF1DD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502152" y="2029968"/>
            <a:ext cx="0" cy="54864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21608" y="2029968"/>
            <a:ext cx="2139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FastAPI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68880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Sessions, runs, SSE/polling, file uploads
download endpoints per artifact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5896" y="2642616"/>
            <a:ext cx="155447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63055" y="1828800"/>
            <a:ext cx="2688336" cy="1627632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309359" y="2029968"/>
            <a:ext cx="0" cy="54864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8816" y="2029968"/>
            <a:ext cx="2139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Agent 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468880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FinancialResearchRunner
infer tickers -&gt; fetch data -&gt; run agent -&gt; save outputs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33104" y="2642616"/>
            <a:ext cx="155448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70263" y="1828800"/>
            <a:ext cx="2688336" cy="1627632"/>
          </a:xfrm>
          <a:prstGeom prst="roundRect">
            <a:avLst/>
          </a:prstGeom>
          <a:solidFill>
            <a:srgbClr val="FBEAE6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116567" y="2029968"/>
            <a:ext cx="0" cy="54864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36024" y="2029968"/>
            <a:ext cx="2139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Georgia"/>
              </a:rP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468880"/>
            <a:ext cx="21396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5F6B"/>
                </a:solidFill>
                <a:latin typeface="Aptos"/>
              </a:rPr>
              <a:t>SEC EDGAR + optional Alpha Vantage
public-data mode as safe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360273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77240" y="3840480"/>
            <a:ext cx="41148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395020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Georgia"/>
              </a:rPr>
              <a:t>Session + run 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79392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Each session owns a message history and a working folder.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Every user prompt becomes a run with its own event log and artifact set.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Runs are cancellable; the kernel is reusable across turns.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3657600"/>
            <a:ext cx="360273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562855" y="3840480"/>
            <a:ext cx="411481" cy="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62855" y="395020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Georgia"/>
              </a:rPr>
              <a:t>Live updates to the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5" y="4279392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SSE-style event stream plus polling fallback for cold networks.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Sliding window of recent events drives the Live Status panel.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Friendly error surface instead of a generic failure banner.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1" y="3657600"/>
            <a:ext cx="3602736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348471" y="3840480"/>
            <a:ext cx="411480" cy="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48471" y="395020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1828"/>
                </a:solidFill>
                <a:latin typeface="Georgia"/>
              </a:rPr>
              <a:t>Artifact rendering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279392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Tables and charts preview inline; full files are downloadable.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Markdown report rendered in-page after each successful run.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5F6B"/>
                </a:solidFill>
                <a:latin typeface="Aptos"/>
              </a:rPr>
              <a:t>•  Non-financial prompts bypass the pipeline and chat normally.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5F6B"/>
                </a:solidFill>
                <a:latin typeface="Aptos"/>
              </a:rPr>
              <a:t>PyCallingAgent  ·  Financial Research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5F6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8A1F"/>
                </a:solidFill>
                <a:latin typeface="Aptos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1828"/>
                </a:solidFill>
                <a:latin typeface="Georgia"/>
              </a:rPr>
              <a:t>From GitHub to a public URL in one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5F6B"/>
                </a:solidFill>
                <a:latin typeface="Aptos"/>
              </a:rPr>
              <a:t>The deployment surface is small on purpose so the demo does not break.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17904"/>
            <a:ext cx="11064240" cy="0"/>
          </a:xfrm>
          <a:prstGeom prst="line">
            <a:avLst/>
          </a:prstGeom>
          <a:ln w="9525">
            <a:solidFill>
              <a:srgbClr val="D7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3611880" cy="3566160"/>
          </a:xfrm>
          <a:prstGeom prst="roundRect">
            <a:avLst/>
          </a:prstGeom>
          <a:solidFill>
            <a:srgbClr val="E5ECF7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22959" y="2057400"/>
            <a:ext cx="411480" cy="0"/>
          </a:xfrm>
          <a:prstGeom prst="line">
            <a:avLst/>
          </a:prstGeom>
          <a:ln w="38100">
            <a:solidFill>
              <a:srgbClr val="2B4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59" y="21762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Georgia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2374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B4F9E"/>
                </a:solidFill>
                <a:latin typeface="Aptos"/>
              </a:rPr>
              <a:t>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52928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Push to `main` on vanzll/PyAgent.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Render watches the branch and redeploys automatically.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3611880"/>
            <a:ext cx="182880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828800"/>
            <a:ext cx="3611880" cy="3566160"/>
          </a:xfrm>
          <a:prstGeom prst="roundRect">
            <a:avLst/>
          </a:prstGeom>
          <a:solidFill>
            <a:srgbClr val="FBF1DD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057400"/>
            <a:ext cx="41148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20" y="21762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Georgia"/>
              </a:rPr>
              <a:t>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2374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8A1F"/>
                </a:solidFill>
                <a:latin typeface="Aptos"/>
              </a:rPr>
              <a:t>Web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52928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Build: `pip install ".[openai,webapp]"`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Start: `python -m uvicorn cave_agent.webapp.app:create_app --factory`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Public URL comes from Render; no custom DNS needed.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3611880"/>
            <a:ext cx="182881" cy="0"/>
          </a:xfrm>
          <a:prstGeom prst="line">
            <a:avLst/>
          </a:prstGeom>
          <a:ln w="254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1828800"/>
            <a:ext cx="3611880" cy="356616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D7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412480" y="2057400"/>
            <a:ext cx="411480" cy="0"/>
          </a:xfrm>
          <a:prstGeom prst="line">
            <a:avLst/>
          </a:prstGeom>
          <a:ln w="38100">
            <a:solidFill>
              <a:srgbClr val="0E6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0" y="21762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Georgia"/>
              </a:rPr>
              <a:t>Runtime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2374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6B66"/>
                </a:solidFill>
                <a:latin typeface="Aptos"/>
              </a:rPr>
              <a:t>Environment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52928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`LLM_MODEL_ID`, `LLM_API_KEY`, `LLM_BASE_URL`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`SEC_USER_AGENT` for SEC EDGAR traffic.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5B5F6B"/>
                </a:solidFill>
                <a:latin typeface="Aptos"/>
              </a:rPr>
              <a:t>•  `ALPHAVANTAGE_API_KEY` is optional; public-data mode covers the fallback.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155680" cy="8686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77240" y="5779008"/>
            <a:ext cx="411480" cy="0"/>
          </a:xfrm>
          <a:prstGeom prst="line">
            <a:avLst/>
          </a:prstGeom>
          <a:ln w="38100">
            <a:solidFill>
              <a:srgbClr val="E0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8704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9ECF3"/>
                </a:solidFill>
                <a:latin typeface="Aptos"/>
              </a:rPr>
              <a:t>Live demo: pycallingagent.onrender.com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4476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6BDCB"/>
                </a:solidFill>
                <a:latin typeface="Aptos"/>
              </a:rPr>
              <a:t>Public-data fallback keeps the deployment working even if third-party rate limits kick 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B5F6B"/>
                </a:solidFill>
                <a:latin typeface="Aptos"/>
              </a:rPr>
              <a:t>PyCallingAgent  ·  Financial Research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5F6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8A1F"/>
          </a:solidFill>
          <a:ln w="1270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554480" cy="310896"/>
          </a:xfrm>
          <a:prstGeom prst="roundRect">
            <a:avLst/>
          </a:prstGeom>
          <a:solidFill>
            <a:srgbClr val="E08A1F"/>
          </a:solidFill>
          <a:ln w="1270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DEMO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9ECF3"/>
                </a:solidFill>
                <a:latin typeface="Aptos"/>
              </a:rPr>
              <a:t>Prompt -&gt; grounded research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10607040" cy="30175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6BDCB"/>
                </a:solidFill>
                <a:latin typeface="Aptos"/>
              </a:rPr>
              <a:t>[ place demo screenshot or live screen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6D9A0"/>
                </a:solidFill>
                <a:latin typeface="Aptos"/>
              </a:rPr>
              <a:t>Suggested prompt:  Summarize Apple and show the recent price trend.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10789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6BDCB"/>
                </a:solidFill>
                <a:latin typeface="Aptos"/>
              </a:rPr>
              <a:t>pycallingagent.onrender.com  ·  github.com/vanzll/PyAgent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BDC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8A1F"/>
          </a:solidFill>
          <a:ln w="1270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554480" cy="310896"/>
          </a:xfrm>
          <a:prstGeom prst="roundRect">
            <a:avLst/>
          </a:prstGeom>
          <a:solidFill>
            <a:srgbClr val="E08A1F"/>
          </a:solidFill>
          <a:ln w="1270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DEMO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9ECF3"/>
                </a:solidFill>
                <a:latin typeface="Aptos"/>
              </a:rPr>
              <a:t>Comparison and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10607040" cy="301752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E0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6BDCB"/>
                </a:solidFill>
                <a:latin typeface="Aptos"/>
              </a:rPr>
              <a:t>[ place demo screenshot or live screen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6D9A0"/>
                </a:solidFill>
                <a:latin typeface="Aptos"/>
              </a:rPr>
              <a:t>Suggested prompt:  Compare AMD and Nvidia on valuation and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10789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6BDCB"/>
                </a:solidFill>
                <a:latin typeface="Aptos"/>
              </a:rPr>
              <a:t>pycallingagent.onrender.com  ·  github.com/vanzll/PyAgent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739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BDC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PyCallingAgent - Technical Talk</dc:title>
  <dc:subject>PyCallingAgent: runtime, skills, web product</dc:subject>
  <dc:creator>Zhenglin Wan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