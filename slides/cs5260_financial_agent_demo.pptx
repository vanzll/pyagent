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66928"/>
            <a:ext cx="2194560" cy="310896"/>
          </a:xfrm>
          <a:prstGeom prst="roundRect">
            <a:avLst/>
          </a:prstGeom>
          <a:solidFill>
            <a:srgbClr val="D2A45C"/>
          </a:solidFill>
          <a:ln w="12700">
            <a:solidFill>
              <a:srgbClr val="D2A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162033"/>
                </a:solidFill>
                <a:latin typeface="Aptos"/>
              </a:rPr>
              <a:t>NUS CS5260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CaveAgent Research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7132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D7DFEC"/>
                </a:solidFill>
                <a:latin typeface="Aptos"/>
              </a:rPr>
              <a:t>A public financial research agent for U.S. stocks and ETFs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577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7F4ED"/>
                </a:solidFill>
                <a:latin typeface="Aptos"/>
              </a:rPr>
              <a:t>The product accepts tickers and a research question, then fetches public market data, filing-backed facts, comparison tables, and chart artifacts through a CaveAgent-powered runtime.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426464"/>
            <a:ext cx="1417320" cy="914400"/>
          </a:xfrm>
          <a:prstGeom prst="roundRect">
            <a:avLst/>
          </a:prstGeom>
          <a:solidFill>
            <a:srgbClr val="102139"/>
          </a:solidFill>
          <a:ln w="12700">
            <a:solidFill>
              <a:srgbClr val="10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0336" y="15361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0CF93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0336" y="1938528"/>
            <a:ext cx="12344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D3DCEC"/>
                </a:solidFill>
                <a:latin typeface="Aptos"/>
              </a:rPr>
              <a:t>Public data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05088" y="1426464"/>
            <a:ext cx="1417320" cy="914400"/>
          </a:xfrm>
          <a:prstGeom prst="roundRect">
            <a:avLst/>
          </a:prstGeom>
          <a:solidFill>
            <a:srgbClr val="102139"/>
          </a:solidFill>
          <a:ln w="12700">
            <a:solidFill>
              <a:srgbClr val="10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5361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0CF93"/>
                </a:solidFill>
                <a:latin typeface="Georgia"/>
              </a:rPr>
              <a:t>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3104" y="1938528"/>
            <a:ext cx="12344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D3DCEC"/>
                </a:solidFill>
                <a:latin typeface="Aptos"/>
              </a:rPr>
              <a:t>Live run stream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77856" y="1426464"/>
            <a:ext cx="1417320" cy="914400"/>
          </a:xfrm>
          <a:prstGeom prst="roundRect">
            <a:avLst/>
          </a:prstGeom>
          <a:solidFill>
            <a:srgbClr val="102139"/>
          </a:solidFill>
          <a:ln w="12700">
            <a:solidFill>
              <a:srgbClr val="10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5872" y="15361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0CF93"/>
                </a:solidFill>
                <a:latin typeface="Georgia"/>
              </a:rPr>
              <a:t>0 SGD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5872" y="1938528"/>
            <a:ext cx="12344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D3DCEC"/>
                </a:solidFill>
                <a:latin typeface="Aptos"/>
              </a:rPr>
              <a:t>Demo-mode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542032"/>
            <a:ext cx="2148840" cy="914400"/>
          </a:xfrm>
          <a:prstGeom prst="roundRect">
            <a:avLst/>
          </a:prstGeom>
          <a:solidFill>
            <a:srgbClr val="102139"/>
          </a:solidFill>
          <a:ln w="12700">
            <a:solidFill>
              <a:srgbClr val="10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651760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0CF93"/>
                </a:solidFill>
                <a:latin typeface="Georgia"/>
              </a:rPr>
              <a:t>3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336" y="3054096"/>
            <a:ext cx="19659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D3DCEC"/>
                </a:solidFill>
                <a:latin typeface="Aptos"/>
              </a:rPr>
              <a:t>exported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2542032"/>
            <a:ext cx="2258568" cy="914400"/>
          </a:xfrm>
          <a:prstGeom prst="roundRect">
            <a:avLst/>
          </a:prstGeom>
          <a:solidFill>
            <a:srgbClr val="102139"/>
          </a:solidFill>
          <a:ln w="12700">
            <a:solidFill>
              <a:srgbClr val="10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64624" y="2651760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0CF93"/>
                </a:solidFill>
                <a:latin typeface="Georgia"/>
              </a:rPr>
              <a:t>Adaptive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4624" y="3054096"/>
            <a:ext cx="2075688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D3DCEC"/>
                </a:solidFill>
                <a:latin typeface="Aptos"/>
              </a:rPr>
              <a:t>task-driven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794760"/>
            <a:ext cx="4572000" cy="1463040"/>
          </a:xfrm>
          <a:prstGeom prst="roundRect">
            <a:avLst/>
          </a:prstGeom>
          <a:solidFill>
            <a:srgbClr val="102139"/>
          </a:solidFill>
          <a:ln w="12700">
            <a:solidFill>
              <a:srgbClr val="10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986784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0CF93"/>
                </a:solidFill>
                <a:latin typeface="Aptos"/>
              </a:rPr>
              <a:t>Public homepage statement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4261104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"/>
              </a:rPr>
              <a:t>This public-facing agent product is entirely derived from work conducted as part of the NUS CS5260 course.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61888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9D3E3"/>
                </a:solidFill>
                <a:latin typeface="Aptos"/>
              </a:rPr>
              <a:t>Zhenglin Wan · April 17,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11712" y="6400800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C9D3E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33"/>
                </a:solidFill>
                <a:latin typeface="Georgia"/>
              </a:rPr>
              <a:t>Why this product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9552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E6B7E"/>
                </a:solidFill>
                <a:latin typeface="Aptos"/>
              </a:rPr>
              <a:t>Financial research is easy to start and tedious to finish.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44752"/>
            <a:ext cx="544982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82496"/>
            <a:ext cx="1335024" cy="310896"/>
          </a:xfrm>
          <a:prstGeom prst="roundRect">
            <a:avLst/>
          </a:prstGeom>
          <a:solidFill>
            <a:srgbClr val="EAF0F9"/>
          </a:solidFill>
          <a:ln w="12700">
            <a:solidFill>
              <a:srgbClr val="EA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3350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4E7DD1"/>
                </a:solidFill>
                <a:latin typeface="Aptos"/>
              </a:rPr>
              <a:t>ANALYST 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42062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62033"/>
                </a:solidFill>
                <a:latin typeface="Georgia"/>
              </a:rPr>
              <a:t>Manual workflows break the research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62033"/>
                </a:solidFill>
                <a:latin typeface="Aptos"/>
              </a:rPr>
              <a:t>• Price data, filings, and macro context live in different tools.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62033"/>
                </a:solidFill>
                <a:latin typeface="Aptos"/>
              </a:rPr>
              <a:t>• A simple comparison request still requires multiple tabs and export steps.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62033"/>
                </a:solidFill>
                <a:latin typeface="Aptos"/>
              </a:rPr>
              <a:t>• Outputs become inconsistent: screenshots, notes, and ad hoc charts.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62033"/>
                </a:solidFill>
                <a:latin typeface="Aptos"/>
              </a:rPr>
              <a:t>• For a live course demo, external API or model failures can kill momentum.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44752"/>
            <a:ext cx="5422392" cy="4526280"/>
          </a:xfrm>
          <a:prstGeom prst="roundRect">
            <a:avLst/>
          </a:prstGeom>
          <a:solidFill>
            <a:srgbClr val="14243C"/>
          </a:solidFill>
          <a:ln w="12700">
            <a:solidFill>
              <a:srgbClr val="14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682496"/>
            <a:ext cx="1554480" cy="310896"/>
          </a:xfrm>
          <a:prstGeom prst="roundRect">
            <a:avLst/>
          </a:prstGeom>
          <a:solidFill>
            <a:srgbClr val="243A60"/>
          </a:solidFill>
          <a:ln w="12700">
            <a:solidFill>
              <a:srgbClr val="24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19072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0CF93"/>
                </a:solidFill>
                <a:latin typeface="Aptos"/>
              </a:rPr>
              <a:t>DESIGN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29968"/>
            <a:ext cx="448056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A public agent workbench solves the end-to-end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16352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F3F6FA"/>
                </a:solidFill>
                <a:latin typeface="Aptos"/>
              </a:rPr>
              <a:t>• Input is natural language plus one or more tickers.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3F6FA"/>
                </a:solidFill>
                <a:latin typeface="Aptos"/>
              </a:rPr>
              <a:t>• The agent chooses a skill path and grounds outputs in public data.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3F6FA"/>
                </a:solidFill>
                <a:latin typeface="Aptos"/>
              </a:rPr>
              <a:t>• The UI streams progress and exports summary, table, and chart artifacts.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3F6FA"/>
                </a:solidFill>
                <a:latin typeface="Aptos"/>
              </a:rPr>
              <a:t>• Demo mode uses deterministic examples, so the classroom demo remains stable.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27648"/>
            <a:ext cx="10607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A8797"/>
                </a:solidFill>
                <a:latin typeface="Aptos"/>
              </a:rPr>
              <a:t>The scope is intentionally narrow: research assistant, not investment advisor.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2" y="6400800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C879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33"/>
                </a:solidFill>
                <a:latin typeface="Georgia"/>
              </a:rPr>
              <a:t>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9552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E6B7E"/>
                </a:solidFill>
                <a:latin typeface="Aptos"/>
              </a:rPr>
              <a:t>One question in, three artifact types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10972800" cy="480060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FB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8308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E6B7E"/>
                </a:solidFill>
                <a:latin typeface="Aptos"/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48256"/>
            <a:ext cx="2907792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8600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62033"/>
                </a:solidFill>
                <a:latin typeface="Georgia"/>
              </a:rPr>
              <a:t>Tickers and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779776"/>
            <a:ext cx="1280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E7DD1"/>
                </a:solidFill>
                <a:latin typeface="Aptos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035808"/>
            <a:ext cx="230428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AAPL: summarize the company and show recent trend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AMD, NVDA: compare valuation, growth, and performance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SPY: give me a market snapshot and the main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783080"/>
            <a:ext cx="1280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E6B7E"/>
                </a:solidFill>
                <a:latin typeface="Aptos"/>
              </a:rPr>
              <a:t>Agent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48256"/>
            <a:ext cx="3218688" cy="3456432"/>
          </a:xfrm>
          <a:prstGeom prst="roundRect">
            <a:avLst/>
          </a:prstGeom>
          <a:solidFill>
            <a:srgbClr val="14243C"/>
          </a:solidFill>
          <a:ln w="12700">
            <a:solidFill>
              <a:srgbClr val="14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36592" y="2304288"/>
            <a:ext cx="2688336" cy="512064"/>
          </a:xfrm>
          <a:prstGeom prst="roundRect">
            <a:avLst/>
          </a:prstGeom>
          <a:solidFill>
            <a:srgbClr val="1B3150"/>
          </a:solidFill>
          <a:ln w="12700">
            <a:solidFill>
              <a:srgbClr val="1B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2414016"/>
            <a:ext cx="23225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01  Fetch market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6592" y="3017520"/>
            <a:ext cx="2688336" cy="512064"/>
          </a:xfrm>
          <a:prstGeom prst="roundRect">
            <a:avLst/>
          </a:prstGeom>
          <a:solidFill>
            <a:srgbClr val="1B3150"/>
          </a:solidFill>
          <a:ln w="12700">
            <a:solidFill>
              <a:srgbClr val="1B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3127248"/>
            <a:ext cx="23225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02  Normalize into one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3730752"/>
            <a:ext cx="2688336" cy="512064"/>
          </a:xfrm>
          <a:prstGeom prst="roundRect">
            <a:avLst/>
          </a:prstGeom>
          <a:solidFill>
            <a:srgbClr val="1B3150"/>
          </a:solidFill>
          <a:ln w="12700">
            <a:solidFill>
              <a:srgbClr val="1B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3840480"/>
            <a:ext cx="23225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03  Call comparison and chart skills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4443983"/>
            <a:ext cx="2688336" cy="512064"/>
          </a:xfrm>
          <a:prstGeom prst="roundRect">
            <a:avLst/>
          </a:prstGeom>
          <a:solidFill>
            <a:srgbClr val="1B3150"/>
          </a:solidFill>
          <a:ln w="12700">
            <a:solidFill>
              <a:srgbClr val="1B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4553712"/>
            <a:ext cx="232257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Aptos"/>
              </a:rPr>
              <a:t>04  Return research brief +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1783080"/>
            <a:ext cx="10972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E6B7E"/>
                </a:solidFill>
                <a:latin typeface="Aptos"/>
              </a:rPr>
              <a:t>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2" y="2048256"/>
            <a:ext cx="2688336" cy="987552"/>
          </a:xfrm>
          <a:prstGeom prst="roundRect">
            <a:avLst/>
          </a:prstGeom>
          <a:solidFill>
            <a:srgbClr val="FBF3E5"/>
          </a:solidFill>
          <a:ln w="12700">
            <a:solidFill>
              <a:srgbClr val="EFD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239572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62033"/>
                </a:solidFill>
                <a:latin typeface="Georgia"/>
              </a:rPr>
              <a:t>Markdown brief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3182112"/>
            <a:ext cx="2688336" cy="987552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D7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0496" y="3529584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62033"/>
                </a:solidFill>
                <a:latin typeface="Georgia"/>
              </a:rPr>
              <a:t>Comparison 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2" y="4315968"/>
            <a:ext cx="2688336" cy="987552"/>
          </a:xfrm>
          <a:prstGeom prst="roundRect">
            <a:avLst/>
          </a:prstGeom>
          <a:solidFill>
            <a:srgbClr val="EEF8F5"/>
          </a:solidFill>
          <a:ln w="12700">
            <a:solidFill>
              <a:srgbClr val="D7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466344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62033"/>
                </a:solidFill>
                <a:latin typeface="Georgia"/>
              </a:rPr>
              <a:t>Chart artifact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5669280"/>
            <a:ext cx="98755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E6B7E"/>
                </a:solidFill>
                <a:latin typeface="Aptos"/>
              </a:rPr>
              <a:t>The app behaves like a small research desk rather than a static market dashboard.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11712" y="6400800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C879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33"/>
                </a:solidFill>
                <a:latin typeface="Georgia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9552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E6B7E"/>
                </a:solidFill>
                <a:latin typeface="Aptos"/>
              </a:rPr>
              <a:t>Structured data providers on the outside, CaveAgent runtime in the middle.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627632"/>
            <a:ext cx="2057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47088"/>
            <a:ext cx="1426464" cy="310896"/>
          </a:xfrm>
          <a:prstGeom prst="roundRect">
            <a:avLst/>
          </a:prstGeom>
          <a:solidFill>
            <a:srgbClr val="EAF0F9"/>
          </a:solidFill>
          <a:ln w="12700">
            <a:solidFill>
              <a:srgbClr val="EA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4264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4E7DD1"/>
                </a:solidFill>
                <a:latin typeface="Aptos"/>
              </a:rPr>
              <a:t>DATA PROVIDERS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340864"/>
            <a:ext cx="1627632" cy="859536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FB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468880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2033"/>
                </a:solidFill>
                <a:latin typeface="Georgia"/>
              </a:rPr>
              <a:t>Alpha 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779776"/>
            <a:ext cx="12984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E6B7E"/>
                </a:solidFill>
                <a:latin typeface="Aptos"/>
              </a:rPr>
              <a:t>Prices, overview, optional news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364992"/>
            <a:ext cx="1627632" cy="859536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FB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493008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2033"/>
                </a:solidFill>
                <a:latin typeface="Georgia"/>
              </a:rPr>
              <a:t>SEC EDGAR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803904"/>
            <a:ext cx="12984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E6B7E"/>
                </a:solidFill>
                <a:latin typeface="Aptos"/>
              </a:rPr>
              <a:t>Recent filings and company 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389120"/>
            <a:ext cx="1627632" cy="859536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FB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517136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2033"/>
                </a:solidFill>
                <a:latin typeface="Georgia"/>
              </a:rPr>
              <a:t>FRED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4828032"/>
            <a:ext cx="12984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E6B7E"/>
                </a:solidFill>
                <a:latin typeface="Aptos"/>
              </a:rPr>
              <a:t>Macro rates and inflation series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3419856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D2A4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1627632"/>
            <a:ext cx="4791456" cy="4297680"/>
          </a:xfrm>
          <a:prstGeom prst="roundRect">
            <a:avLst/>
          </a:prstGeom>
          <a:solidFill>
            <a:srgbClr val="14243C"/>
          </a:solidFill>
          <a:ln w="12700">
            <a:solidFill>
              <a:srgbClr val="14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75887" y="1847088"/>
            <a:ext cx="1737360" cy="310896"/>
          </a:xfrm>
          <a:prstGeom prst="roundRect">
            <a:avLst/>
          </a:prstGeom>
          <a:solidFill>
            <a:srgbClr val="243A60"/>
          </a:solidFill>
          <a:ln w="12700">
            <a:solidFill>
              <a:srgbClr val="24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7" y="1883664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0CF93"/>
                </a:solidFill>
                <a:latin typeface="Aptos"/>
              </a:rPr>
              <a:t>CAVEAGENT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2249424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Unified research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279806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E4EBF6"/>
                </a:solidFill>
                <a:latin typeface="Aptos"/>
              </a:rPr>
              <a:t>Provider outputs become typed runtime objects: price history, comparison frames, macro series, and company facts. The agent reasons over structured inputs before choosing a skill path.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75887" y="3712463"/>
            <a:ext cx="1874519" cy="658368"/>
          </a:xfrm>
          <a:prstGeom prst="roundRect">
            <a:avLst/>
          </a:prstGeom>
          <a:solidFill>
            <a:srgbClr val="1B3150"/>
          </a:solidFill>
          <a:ln w="12700">
            <a:solidFill>
              <a:srgbClr val="1B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03903" y="3858768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0CF93"/>
                </a:solidFill>
                <a:latin typeface="Aptos"/>
              </a:rPr>
              <a:t>market-data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3903" y="4059935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8E1EE"/>
                </a:solidFill>
                <a:latin typeface="Aptos"/>
              </a:rPr>
              <a:t>Price inspection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87568" y="3712463"/>
            <a:ext cx="1874519" cy="658368"/>
          </a:xfrm>
          <a:prstGeom prst="roundRect">
            <a:avLst/>
          </a:prstGeom>
          <a:solidFill>
            <a:srgbClr val="1B3150"/>
          </a:solidFill>
          <a:ln w="12700">
            <a:solidFill>
              <a:srgbClr val="1B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15583" y="3858768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0CF93"/>
                </a:solidFill>
                <a:latin typeface="Aptos"/>
              </a:rPr>
              <a:t>fundamentals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3" y="4059935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8E1EE"/>
                </a:solidFill>
                <a:latin typeface="Aptos"/>
              </a:rPr>
              <a:t>Filing-backed facts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75887" y="4590288"/>
            <a:ext cx="1874519" cy="658368"/>
          </a:xfrm>
          <a:prstGeom prst="roundRect">
            <a:avLst/>
          </a:prstGeom>
          <a:solidFill>
            <a:srgbClr val="1B3150"/>
          </a:solidFill>
          <a:ln w="12700">
            <a:solidFill>
              <a:srgbClr val="1B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03903" y="473659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0CF93"/>
                </a:solidFill>
                <a:latin typeface="Aptos"/>
              </a:rPr>
              <a:t>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3903" y="493775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8E1EE"/>
                </a:solidFill>
                <a:latin typeface="Aptos"/>
              </a:rPr>
              <a:t>Peer tables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87568" y="4590288"/>
            <a:ext cx="1874519" cy="658368"/>
          </a:xfrm>
          <a:prstGeom prst="roundRect">
            <a:avLst/>
          </a:prstGeom>
          <a:solidFill>
            <a:srgbClr val="1B3150"/>
          </a:solidFill>
          <a:ln w="12700">
            <a:solidFill>
              <a:srgbClr val="1B3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15583" y="473659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0CF93"/>
                </a:solidFill>
                <a:latin typeface="Aptos"/>
              </a:rPr>
              <a:t>charting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3" y="493775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D8E1EE"/>
                </a:solidFill>
                <a:latin typeface="Aptos"/>
              </a:rPr>
              <a:t>PNG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419856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D2A45C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41664" y="1627632"/>
            <a:ext cx="2706624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61120" y="1847088"/>
            <a:ext cx="1024128" cy="310896"/>
          </a:xfrm>
          <a:prstGeom prst="roundRect">
            <a:avLst/>
          </a:prstGeom>
          <a:solidFill>
            <a:srgbClr val="EEF8F5"/>
          </a:solidFill>
          <a:ln w="12700">
            <a:solidFill>
              <a:srgbClr val="EE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1883664"/>
            <a:ext cx="10241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2B8C74"/>
                </a:solidFill>
                <a:latin typeface="Aptos"/>
              </a:rPr>
              <a:t>WEB OUTPUT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9408" y="2395728"/>
            <a:ext cx="2212848" cy="53035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FB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2542032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2033"/>
                </a:solidFill>
                <a:latin typeface="Aptos"/>
              </a:rPr>
              <a:t>Live event stream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79408" y="3200400"/>
            <a:ext cx="2212848" cy="53035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FB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346704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2033"/>
                </a:solidFill>
                <a:latin typeface="Aptos"/>
              </a:rPr>
              <a:t>Snapshot cards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9408" y="4005072"/>
            <a:ext cx="2212848" cy="53035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FB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4151376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2033"/>
                </a:solidFill>
                <a:latin typeface="Aptos"/>
              </a:rPr>
              <a:t>Research brief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9408" y="4809744"/>
            <a:ext cx="2212848" cy="53035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FB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4956048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2033"/>
                </a:solidFill>
                <a:latin typeface="Aptos"/>
              </a:rPr>
              <a:t>Downloadable artifacts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327648"/>
            <a:ext cx="10607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A8797"/>
                </a:solidFill>
                <a:latin typeface="Aptos"/>
              </a:rPr>
              <a:t>The key engineering choice is normalizing provider output before the agent starts reasoning.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11712" y="6400800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C879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33"/>
                </a:solidFill>
                <a:latin typeface="Georgia"/>
              </a:rPr>
              <a:t>Grounding, safety, and cost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9552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E6B7E"/>
                </a:solidFill>
                <a:latin typeface="Aptos"/>
              </a:rPr>
              <a:t>The project stays useful by staying narrow.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1664208"/>
            <a:ext cx="2926080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01952"/>
            <a:ext cx="1188720" cy="310896"/>
          </a:xfrm>
          <a:prstGeom prst="roundRect">
            <a:avLst/>
          </a:prstGeom>
          <a:solidFill>
            <a:srgbClr val="EAF0F9"/>
          </a:solidFill>
          <a:ln w="12700">
            <a:solidFill>
              <a:srgbClr val="EA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4E7DD1"/>
                </a:solidFill>
                <a:latin typeface="Aptos"/>
              </a:rPr>
              <a:t>PUBLIC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62033"/>
                </a:solidFill>
                <a:latin typeface="Georgia"/>
              </a:rPr>
              <a:t>Grounded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2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Price history and profile data come from Alpha Vantage.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SEC EDGAR provides official filings and company facts.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FRED adds macro context when the question needs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6" y="1664208"/>
            <a:ext cx="2926080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901952"/>
            <a:ext cx="1188720" cy="310896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FC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938528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B95C5C"/>
                </a:solidFill>
                <a:latin typeface="Aptos"/>
              </a:rPr>
              <a:t>RESEARCH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49424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62033"/>
                </a:solidFill>
                <a:latin typeface="Georgia"/>
              </a:rPr>
              <a:t>Safe product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907792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The app is framed as a financial research assistant.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Every run is labeled: For research use only. Not investment advice.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No trading execution, portfolio optimization, or personal finance claims.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43216" y="1664208"/>
            <a:ext cx="2926080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80960" y="1901952"/>
            <a:ext cx="1188720" cy="310896"/>
          </a:xfrm>
          <a:prstGeom prst="roundRect">
            <a:avLst/>
          </a:prstGeom>
          <a:solidFill>
            <a:srgbClr val="EEF8F5"/>
          </a:solidFill>
          <a:ln w="12700">
            <a:solidFill>
              <a:srgbClr val="EE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938528"/>
            <a:ext cx="1188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2B8C74"/>
                </a:solidFill>
                <a:latin typeface="Aptos"/>
              </a:rPr>
              <a:t>DEMO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249424"/>
            <a:ext cx="2286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62033"/>
                </a:solidFill>
                <a:latin typeface="Georgia"/>
              </a:rPr>
              <a:t>Low-risk demo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2907792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Deterministic market examples remove rate-limit risk.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Demo mode can run with zero API and model cost.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The same UI, outputs, and artifact flow are preserved in class.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5852160"/>
            <a:ext cx="10552176" cy="438912"/>
          </a:xfrm>
          <a:prstGeom prst="roundRect">
            <a:avLst/>
          </a:prstGeom>
          <a:solidFill>
            <a:srgbClr val="FBF3E5"/>
          </a:solidFill>
          <a:ln w="12700">
            <a:solidFill>
              <a:srgbClr val="F1D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598017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2033"/>
                </a:solidFill>
                <a:latin typeface="Aptos"/>
              </a:rPr>
              <a:t>Homepage statement: This public-facing agent product is entirely derived from work conducted as part of the NUS CS5260 course.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27648"/>
            <a:ext cx="10607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A8797"/>
                </a:solidFill>
                <a:latin typeface="Aptos"/>
              </a:rPr>
              <a:t>Official sources: Alpha Vantage documentation, SEC EDGAR API, and FRED API.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11712" y="6400800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C879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33"/>
                </a:solidFill>
                <a:latin typeface="Georgia"/>
              </a:rPr>
              <a:t>5-minute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9552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E6B7E"/>
                </a:solidFill>
                <a:latin typeface="Aptos"/>
              </a:rPr>
              <a:t>Three runs, each chosen to show a different product capability.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700784"/>
            <a:ext cx="2907792" cy="4261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0976" y="1920240"/>
            <a:ext cx="841248" cy="310896"/>
          </a:xfrm>
          <a:prstGeom prst="roundRect">
            <a:avLst/>
          </a:prstGeom>
          <a:solidFill>
            <a:srgbClr val="EAF0F9"/>
          </a:solidFill>
          <a:ln w="12700">
            <a:solidFill>
              <a:srgbClr val="EA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956816"/>
            <a:ext cx="8412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4E7DD1"/>
                </a:solidFill>
                <a:latin typeface="Aptos"/>
              </a:rPr>
              <a:t>RUN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267712"/>
            <a:ext cx="22128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62033"/>
                </a:solidFill>
                <a:latin typeface="Georgia"/>
              </a:rPr>
              <a:t>AAPL single-stock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761488"/>
            <a:ext cx="224942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E6B7E"/>
                </a:solidFill>
                <a:latin typeface="Aptos"/>
              </a:rPr>
              <a:t>Summarize AAPL and show the recent price trend.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566160"/>
            <a:ext cx="10058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4E7DD1"/>
                </a:solidFill>
                <a:latin typeface="Aptos"/>
              </a:rPr>
              <a:t>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822191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Snapshot card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Trend chart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Markdown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78224" y="1700784"/>
            <a:ext cx="2907792" cy="4261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5968" y="1920240"/>
            <a:ext cx="841248" cy="310896"/>
          </a:xfrm>
          <a:prstGeom prst="roundRect">
            <a:avLst/>
          </a:prstGeom>
          <a:solidFill>
            <a:srgbClr val="FBF3E5"/>
          </a:solidFill>
          <a:ln w="12700">
            <a:solidFill>
              <a:srgbClr val="FBF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956816"/>
            <a:ext cx="8412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D2A45C"/>
                </a:solidFill>
                <a:latin typeface="Aptos"/>
              </a:rPr>
              <a:t>RUN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267712"/>
            <a:ext cx="22128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62033"/>
                </a:solidFill>
                <a:latin typeface="Georgia"/>
              </a:rPr>
              <a:t>AMD vs NVDA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761488"/>
            <a:ext cx="224942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E6B7E"/>
                </a:solidFill>
                <a:latin typeface="Aptos"/>
              </a:rPr>
              <a:t>Compare valuation, latest fundamentals, and recent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3566160"/>
            <a:ext cx="10058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2A45C"/>
                </a:solidFill>
                <a:latin typeface="Aptos"/>
              </a:rPr>
              <a:t>Show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3822191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Two snapshot cards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Comparison CSV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Relative returns chart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1700784"/>
            <a:ext cx="2907792" cy="4261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0" y="1920240"/>
            <a:ext cx="841248" cy="310896"/>
          </a:xfrm>
          <a:prstGeom prst="roundRect">
            <a:avLst/>
          </a:prstGeom>
          <a:solidFill>
            <a:srgbClr val="EEF8F5"/>
          </a:solidFill>
          <a:ln w="12700">
            <a:solidFill>
              <a:srgbClr val="EE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956816"/>
            <a:ext cx="8412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2B8C74"/>
                </a:solidFill>
                <a:latin typeface="Aptos"/>
              </a:rPr>
              <a:t>RUN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267712"/>
            <a:ext cx="22128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62033"/>
                </a:solidFill>
                <a:latin typeface="Georgia"/>
              </a:rPr>
              <a:t>SPY market snapshot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761488"/>
            <a:ext cx="224942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E6B7E"/>
                </a:solidFill>
                <a:latin typeface="Aptos"/>
              </a:rPr>
              <a:t>Give me a market snapshot and highlight the main risks.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566160"/>
            <a:ext cx="10058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B8C74"/>
                </a:solidFill>
                <a:latin typeface="Aptos"/>
              </a:rPr>
              <a:t>Show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822191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ETF framing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Macro context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62033"/>
                </a:solidFill>
                <a:latin typeface="Aptos"/>
              </a:rPr>
              <a:t>• Short risk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27648"/>
            <a:ext cx="10607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A8797"/>
                </a:solidFill>
                <a:latin typeface="Aptos"/>
              </a:rPr>
              <a:t>Use deterministic demo mode in class to avoid API or model latency surprises.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11712" y="6400800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C879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33"/>
                </a:solidFill>
                <a:latin typeface="Georgia"/>
              </a:rPr>
              <a:t>Why this is an agent, not a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79552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E6B7E"/>
                </a:solidFill>
                <a:latin typeface="Aptos"/>
              </a:rPr>
              <a:t>The output changes based on the task, not just the selected ticker.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64208"/>
            <a:ext cx="10561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75104"/>
            <a:ext cx="10561320" cy="475488"/>
          </a:xfrm>
          <a:prstGeom prst="rect">
            <a:avLst/>
          </a:prstGeom>
          <a:solidFill>
            <a:srgbClr val="14243C"/>
          </a:solidFill>
          <a:ln>
            <a:solidFill>
              <a:srgbClr val="142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121408"/>
            <a:ext cx="1828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Criterion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2191" y="2121408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How the project satisfies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450592"/>
            <a:ext cx="10241280" cy="9144"/>
          </a:xfrm>
          <a:prstGeom prst="rect">
            <a:avLst/>
          </a:prstGeom>
          <a:solidFill>
            <a:srgbClr val="E7EBF1"/>
          </a:solidFill>
          <a:ln>
            <a:solidFill>
              <a:srgbClr val="E7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615184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62033"/>
                </a:solidFill>
                <a:latin typeface="Georgia"/>
              </a:rPr>
              <a:t>Open-ended task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2578608"/>
            <a:ext cx="6903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B7E"/>
                </a:solidFill>
                <a:latin typeface="Aptos"/>
              </a:rPr>
              <a:t>The user provides a natural-language research prompt, not a fixed dashboard control.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3145536"/>
            <a:ext cx="10241280" cy="9144"/>
          </a:xfrm>
          <a:prstGeom prst="rect">
            <a:avLst/>
          </a:prstGeom>
          <a:solidFill>
            <a:srgbClr val="E7EBF1"/>
          </a:solidFill>
          <a:ln>
            <a:solidFill>
              <a:srgbClr val="E7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310128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62033"/>
                </a:solidFill>
                <a:latin typeface="Georgia"/>
              </a:rPr>
              <a:t>Skill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3273552"/>
            <a:ext cx="6903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B7E"/>
                </a:solidFill>
                <a:latin typeface="Aptos"/>
              </a:rPr>
              <a:t>The runtime can route through market-data, fundamentals, comparison, and charting skills depending on the question.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840480"/>
            <a:ext cx="10241280" cy="9144"/>
          </a:xfrm>
          <a:prstGeom prst="rect">
            <a:avLst/>
          </a:prstGeom>
          <a:solidFill>
            <a:srgbClr val="E7EBF1"/>
          </a:solidFill>
          <a:ln>
            <a:solidFill>
              <a:srgbClr val="E7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400507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62033"/>
                </a:solidFill>
                <a:latin typeface="Georgia"/>
              </a:rPr>
              <a:t>Artifact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3968496"/>
            <a:ext cx="6903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B7E"/>
                </a:solidFill>
                <a:latin typeface="Aptos"/>
              </a:rPr>
              <a:t>The agent returns a brief, a structured table artifact, and a chart artifact in one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4535424"/>
            <a:ext cx="10241280" cy="9144"/>
          </a:xfrm>
          <a:prstGeom prst="rect">
            <a:avLst/>
          </a:prstGeom>
          <a:solidFill>
            <a:srgbClr val="E7EBF1"/>
          </a:solidFill>
          <a:ln>
            <a:solidFill>
              <a:srgbClr val="E7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700016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62033"/>
                </a:solidFill>
                <a:latin typeface="Georgia"/>
              </a:rPr>
              <a:t>Grounded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1" y="4663440"/>
            <a:ext cx="6903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B7E"/>
                </a:solidFill>
                <a:latin typeface="Aptos"/>
              </a:rPr>
              <a:t>SEC EDGAR and structured provider objects are injected before reasoning starts.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" y="5230368"/>
            <a:ext cx="10241280" cy="9144"/>
          </a:xfrm>
          <a:prstGeom prst="rect">
            <a:avLst/>
          </a:prstGeom>
          <a:solidFill>
            <a:srgbClr val="E7EBF1"/>
          </a:solidFill>
          <a:ln>
            <a:solidFill>
              <a:srgbClr val="E7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5394960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62033"/>
                </a:solidFill>
                <a:latin typeface="Georgia"/>
              </a:rPr>
              <a:t>Presentation reliability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5358384"/>
            <a:ext cx="6903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E6B7E"/>
                </a:solidFill>
                <a:latin typeface="Aptos"/>
              </a:rPr>
              <a:t>Demo mode preserves the exact agent workflow while removing rate-limit and cost risk.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27648"/>
            <a:ext cx="10607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7A8797"/>
                </a:solidFill>
                <a:latin typeface="Aptos"/>
              </a:rPr>
              <a:t>A static dashboard cannot adapt its output structure to three different prompts this way.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11712" y="6400800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C879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80467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What is complete, and
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7772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7DFEC"/>
                </a:solidFill>
                <a:latin typeface="Aptos"/>
              </a:rPr>
              <a:t>The MVP is ready for a stable classroom demo and public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700784"/>
            <a:ext cx="3675887" cy="4297680"/>
          </a:xfrm>
          <a:prstGeom prst="roundRect">
            <a:avLst/>
          </a:prstGeom>
          <a:solidFill>
            <a:srgbClr val="102139"/>
          </a:solidFill>
          <a:ln w="12700">
            <a:solidFill>
              <a:srgbClr val="10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938528"/>
            <a:ext cx="1005840" cy="310896"/>
          </a:xfrm>
          <a:prstGeom prst="roundRect">
            <a:avLst/>
          </a:prstGeom>
          <a:solidFill>
            <a:srgbClr val="243A60"/>
          </a:solidFill>
          <a:ln w="12700">
            <a:solidFill>
              <a:srgbClr val="24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75104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0CF93"/>
                </a:solidFill>
                <a:latin typeface="Aptos"/>
              </a:rPr>
              <a:t>READY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40864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F4F7FB"/>
                </a:solidFill>
                <a:latin typeface="Aptos"/>
              </a:rPr>
              <a:t>• Finance-themed web UI with course statement on the homepage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7FB"/>
                </a:solidFill>
                <a:latin typeface="Aptos"/>
              </a:rPr>
              <a:t>• Public-data provider layer with deterministic demo fallback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7FB"/>
                </a:solidFill>
                <a:latin typeface="Aptos"/>
              </a:rPr>
              <a:t>• Snapshot cards, research brief, tables, charts, and downloadable artifacts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7FB"/>
                </a:solidFill>
                <a:latin typeface="Aptos"/>
              </a:rPr>
              <a:t>• Three rehearsed demo scenarios for the final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1700784"/>
            <a:ext cx="3675887" cy="4297680"/>
          </a:xfrm>
          <a:prstGeom prst="roundRect">
            <a:avLst/>
          </a:prstGeom>
          <a:solidFill>
            <a:srgbClr val="102139"/>
          </a:solidFill>
          <a:ln w="12700">
            <a:solidFill>
              <a:srgbClr val="102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28031" y="1938528"/>
            <a:ext cx="969264" cy="310896"/>
          </a:xfrm>
          <a:prstGeom prst="roundRect">
            <a:avLst/>
          </a:prstGeom>
          <a:solidFill>
            <a:srgbClr val="243A60"/>
          </a:solidFill>
          <a:ln w="12700">
            <a:solidFill>
              <a:srgbClr val="24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1" y="1975104"/>
            <a:ext cx="9692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0CF93"/>
                </a:solidFill>
                <a:latin typeface="Aptos"/>
              </a:rP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2340864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F4F7FB"/>
                </a:solidFill>
                <a:latin typeface="Aptos"/>
              </a:rPr>
              <a:t>• Deploy the FastAPI app to a public URL before April 17, 2026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7FB"/>
                </a:solidFill>
                <a:latin typeface="Aptos"/>
              </a:rPr>
              <a:t>• Record a 60-90 second demo video as backup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7FB"/>
                </a:solidFill>
                <a:latin typeface="Aptos"/>
              </a:rPr>
              <a:t>• Swap in live API keys for the final hosted version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4F7FB"/>
                </a:solidFill>
                <a:latin typeface="Aptos"/>
              </a:rPr>
              <a:t>• Optionally add news explanation after the core demo is stable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85632" y="1700784"/>
            <a:ext cx="2944368" cy="4297680"/>
          </a:xfrm>
          <a:prstGeom prst="roundRect">
            <a:avLst/>
          </a:prstGeom>
          <a:solidFill>
            <a:srgbClr val="132740"/>
          </a:solidFill>
          <a:ln w="12700">
            <a:solidFill>
              <a:srgbClr val="13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23376" y="19933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376" y="2487168"/>
            <a:ext cx="226771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E2EAF7"/>
                </a:solidFill>
                <a:latin typeface="Aptos"/>
              </a:rPr>
              <a:t>CaveAgent Research Desk turns a vague finance question into a grounded research packet in one 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376" y="3822191"/>
            <a:ext cx="2286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CF93"/>
                </a:solidFill>
                <a:latin typeface="Aptos"/>
              </a:rPr>
              <a:t>For research use only. Not investment advice.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46634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9D3E3"/>
                </a:solidFill>
                <a:latin typeface="Aptos"/>
              </a:rPr>
              <a:t>Public URL placeholder:
https://your-deployment-url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27648"/>
            <a:ext cx="10607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B9C6D8"/>
                </a:solidFill>
                <a:latin typeface="Aptos"/>
              </a:rPr>
              <a:t>This public-facing agent product is entirely derived from work conducted as part of the NUS CS5260 course.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1712" y="6400800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C9D3E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CaveAgent Research Desk</dc:title>
  <dc:subject>Financial research agent for CS5260</dc:subject>
  <dc:creator>Zhenglin Wan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